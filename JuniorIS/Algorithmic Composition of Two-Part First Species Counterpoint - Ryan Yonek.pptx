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72" r:id="rId7"/>
    <p:sldId id="273" r:id="rId8"/>
    <p:sldId id="274" r:id="rId9"/>
    <p:sldId id="276" r:id="rId10"/>
    <p:sldId id="278" r:id="rId11"/>
    <p:sldId id="277" r:id="rId12"/>
    <p:sldId id="279" r:id="rId13"/>
    <p:sldId id="280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566BC7-0EE6-4089-BB8B-A18F928C186C}" v="4" dt="2024-04-19T13:03:37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0" d="100"/>
          <a:sy n="70" d="100"/>
        </p:scale>
        <p:origin x="738" y="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4/19/2024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4/19/2024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4/19/2024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ano-genie.glitch.me/" TargetMode="External"/><Relationship Id="rId7" Type="http://schemas.openxmlformats.org/officeDocument/2006/relationships/hyperlink" Target="https://archive.org/details/handbookofmodalc0000robe" TargetMode="External"/><Relationship Id="rId2" Type="http://schemas.openxmlformats.org/officeDocument/2006/relationships/hyperlink" Target="https://codepen.io/teropa/full/JLjXG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agenta/magenta" TargetMode="External"/><Relationship Id="rId5" Type="http://schemas.openxmlformats.org/officeDocument/2006/relationships/hyperlink" Target="https://www.cs.cmu.edu/~tom/files/MachineLearningTomMitchell.pdf" TargetMode="External"/><Relationship Id="rId4" Type="http://schemas.openxmlformats.org/officeDocument/2006/relationships/hyperlink" Target="file:///C:\Users\ryany\Downloads\9781838824419-HANDSON_MUSIC_GENERATION_WITH_MAGENT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152400"/>
            <a:ext cx="8735325" cy="2000251"/>
          </a:xfrm>
        </p:spPr>
        <p:txBody>
          <a:bodyPr>
            <a:normAutofit fontScale="90000"/>
          </a:bodyPr>
          <a:lstStyle/>
          <a:p>
            <a:r>
              <a:rPr lang="en-US" dirty="0"/>
              <a:t>Algorithmic Composition of Two-Part First Species Counterpoint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Ryan Yonek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Species Counterpoint</a:t>
            </a:r>
          </a:p>
          <a:p>
            <a:r>
              <a:rPr lang="en-US" dirty="0"/>
              <a:t>First Species Example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Neural Networks </a:t>
            </a:r>
          </a:p>
          <a:p>
            <a:r>
              <a:rPr lang="en-US" dirty="0"/>
              <a:t>Magenta</a:t>
            </a:r>
          </a:p>
          <a:p>
            <a:r>
              <a:rPr lang="en-US" dirty="0"/>
              <a:t>Implementation</a:t>
            </a:r>
          </a:p>
          <a:p>
            <a:r>
              <a:rPr lang="en-US" dirty="0"/>
              <a:t>Results</a:t>
            </a:r>
          </a:p>
          <a:p>
            <a:r>
              <a:rPr lang="en-US" sz="2800" dirty="0"/>
              <a:t>References for 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heet of music with musical notes&#10;&#10;Description automatically generated">
            <a:extLst>
              <a:ext uri="{FF2B5EF4-FFF2-40B4-BE49-F238E27FC236}">
                <a16:creationId xmlns:a16="http://schemas.microsoft.com/office/drawing/2014/main" id="{4164215A-6BF9-63D4-81C5-55BBAB561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2" y="1275021"/>
            <a:ext cx="4850018" cy="4307957"/>
          </a:xfrm>
          <a:prstGeom prst="rect">
            <a:avLst/>
          </a:prstGeom>
        </p:spPr>
      </p:pic>
      <p:pic>
        <p:nvPicPr>
          <p:cNvPr id="8" name="Picture 7" descr="A sheet of music with notes&#10;&#10;Description automatically generated">
            <a:extLst>
              <a:ext uri="{FF2B5EF4-FFF2-40B4-BE49-F238E27FC236}">
                <a16:creationId xmlns:a16="http://schemas.microsoft.com/office/drawing/2014/main" id="{94DF6C49-4C47-4457-3173-E4A7AAA1A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462" y="917064"/>
            <a:ext cx="6477000" cy="1676497"/>
          </a:xfrm>
          <a:prstGeom prst="rect">
            <a:avLst/>
          </a:prstGeom>
        </p:spPr>
      </p:pic>
      <p:pic>
        <p:nvPicPr>
          <p:cNvPr id="10" name="Picture 9" descr="A sheet of music with lines and dots&#10;&#10;Description automatically generated">
            <a:extLst>
              <a:ext uri="{FF2B5EF4-FFF2-40B4-BE49-F238E27FC236}">
                <a16:creationId xmlns:a16="http://schemas.microsoft.com/office/drawing/2014/main" id="{D25D817C-432B-084B-C938-249C0699AD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273" y="3614328"/>
            <a:ext cx="5830114" cy="24196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3C700-634D-483A-F177-98640D9649A5}"/>
              </a:ext>
            </a:extLst>
          </p:cNvPr>
          <p:cNvSpPr txBox="1"/>
          <p:nvPr/>
        </p:nvSpPr>
        <p:spPr>
          <a:xfrm>
            <a:off x="76062" y="5640898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Church Modes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345626-B769-A23C-7AA8-21DE6142F6DE}"/>
              </a:ext>
            </a:extLst>
          </p:cNvPr>
          <p:cNvSpPr txBox="1"/>
          <p:nvPr/>
        </p:nvSpPr>
        <p:spPr>
          <a:xfrm>
            <a:off x="6107706" y="2982062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Cantus Firmus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4695D-E98B-B925-449D-496ABB11FAE5}"/>
              </a:ext>
            </a:extLst>
          </p:cNvPr>
          <p:cNvSpPr txBox="1"/>
          <p:nvPr/>
        </p:nvSpPr>
        <p:spPr>
          <a:xfrm>
            <a:off x="6107706" y="308987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C Clefs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F34C2B-9C75-59A5-D2FE-EB86EDA554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8188" y="77788"/>
            <a:ext cx="10360025" cy="752475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</a:rPr>
              <a:t>Species counterpoint</a:t>
            </a:r>
          </a:p>
        </p:txBody>
      </p:sp>
    </p:spTree>
    <p:extLst>
      <p:ext uri="{BB962C8B-B14F-4D97-AF65-F5344CB8AC3E}">
        <p14:creationId xmlns:p14="http://schemas.microsoft.com/office/powerpoint/2010/main" val="17523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89DF-6C8A-8D54-94F4-0E6E33D0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89" y="228600"/>
            <a:ext cx="10360501" cy="1223963"/>
          </a:xfrm>
        </p:spPr>
        <p:txBody>
          <a:bodyPr/>
          <a:lstStyle/>
          <a:p>
            <a:pPr algn="ctr"/>
            <a:r>
              <a:rPr lang="en-US" sz="4400" dirty="0"/>
              <a:t>First Species Example</a:t>
            </a:r>
            <a:endParaRPr lang="en-US" dirty="0"/>
          </a:p>
        </p:txBody>
      </p:sp>
      <p:pic>
        <p:nvPicPr>
          <p:cNvPr id="5" name="Picture 4" descr="A drawing of a music note&#10;&#10;Description automatically generated">
            <a:extLst>
              <a:ext uri="{FF2B5EF4-FFF2-40B4-BE49-F238E27FC236}">
                <a16:creationId xmlns:a16="http://schemas.microsoft.com/office/drawing/2014/main" id="{E761074D-DC50-8B2B-145B-2CB3AF4CD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10" y="2124025"/>
            <a:ext cx="11762404" cy="260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5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1595-2564-EE66-6F5A-18B9A994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2895"/>
            <a:ext cx="10360501" cy="1223963"/>
          </a:xfrm>
        </p:spPr>
        <p:txBody>
          <a:bodyPr>
            <a:normAutofit/>
          </a:bodyPr>
          <a:lstStyle/>
          <a:p>
            <a:r>
              <a:rPr lang="en-US" sz="4400" dirty="0"/>
              <a:t>Machine Learning</a:t>
            </a:r>
          </a:p>
        </p:txBody>
      </p:sp>
      <p:pic>
        <p:nvPicPr>
          <p:cNvPr id="4" name="Picture 3" descr="A black screen with white and blue lines&#10;&#10;Description automatically generated">
            <a:extLst>
              <a:ext uri="{FF2B5EF4-FFF2-40B4-BE49-F238E27FC236}">
                <a16:creationId xmlns:a16="http://schemas.microsoft.com/office/drawing/2014/main" id="{C11072CD-C53E-FE46-BDD7-7F65D12DE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425" y="2071444"/>
            <a:ext cx="6299148" cy="3296663"/>
          </a:xfrm>
          <a:prstGeom prst="rect">
            <a:avLst/>
          </a:prstGeom>
        </p:spPr>
      </p:pic>
      <p:pic>
        <p:nvPicPr>
          <p:cNvPr id="8" name="Picture 7" descr="A diagram of a problem&#10;&#10;Description automatically generated">
            <a:extLst>
              <a:ext uri="{FF2B5EF4-FFF2-40B4-BE49-F238E27FC236}">
                <a16:creationId xmlns:a16="http://schemas.microsoft.com/office/drawing/2014/main" id="{5B64E158-A1D2-C942-C484-F476C9E2C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52" y="1828800"/>
            <a:ext cx="5028134" cy="353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5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46C86E-77EA-2BA9-C474-716567FDF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8057" y="1485900"/>
            <a:ext cx="4191000" cy="38481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Biological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Perceptron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Training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Gradient Depth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Back Propagation</a:t>
            </a:r>
          </a:p>
          <a:p>
            <a:endParaRPr lang="en-US" dirty="0"/>
          </a:p>
        </p:txBody>
      </p:sp>
      <p:pic>
        <p:nvPicPr>
          <p:cNvPr id="5" name="Picture 4" descr="A diagram of a machine&#10;&#10;Description automatically generated">
            <a:extLst>
              <a:ext uri="{FF2B5EF4-FFF2-40B4-BE49-F238E27FC236}">
                <a16:creationId xmlns:a16="http://schemas.microsoft.com/office/drawing/2014/main" id="{F98BB6E7-E678-3370-0E4E-5742BCEC4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223" y="252715"/>
            <a:ext cx="5040545" cy="2720294"/>
          </a:xfrm>
          <a:prstGeom prst="rect">
            <a:avLst/>
          </a:prstGeom>
        </p:spPr>
      </p:pic>
      <p:pic>
        <p:nvPicPr>
          <p:cNvPr id="6" name="Picture 5" descr="A graph of a curve&#10;&#10;Description automatically generated">
            <a:extLst>
              <a:ext uri="{FF2B5EF4-FFF2-40B4-BE49-F238E27FC236}">
                <a16:creationId xmlns:a16="http://schemas.microsoft.com/office/drawing/2014/main" id="{DAEE5612-1F8D-0927-06A9-7E4475363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019" y="3429000"/>
            <a:ext cx="4972952" cy="302116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71C17A8-1B70-A7FC-5DED-07E7CF821694}"/>
              </a:ext>
            </a:extLst>
          </p:cNvPr>
          <p:cNvSpPr txBox="1">
            <a:spLocks/>
          </p:cNvSpPr>
          <p:nvPr/>
        </p:nvSpPr>
        <p:spPr>
          <a:xfrm>
            <a:off x="868351" y="0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 cap="all" spc="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tx1"/>
                </a:solidFill>
              </a:rPr>
              <a:t>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411539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A661B-EC6B-34D0-26FC-0E91375A3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228600"/>
            <a:ext cx="10360501" cy="1223963"/>
          </a:xfrm>
        </p:spPr>
        <p:txBody>
          <a:bodyPr>
            <a:normAutofit/>
          </a:bodyPr>
          <a:lstStyle/>
          <a:p>
            <a:r>
              <a:rPr lang="en-US" sz="4400" dirty="0"/>
              <a:t>Magenta</a:t>
            </a:r>
          </a:p>
        </p:txBody>
      </p:sp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CCB8B15D-3B62-3A6A-ADEF-EE5574CF4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162" y="4198330"/>
            <a:ext cx="4641828" cy="2216185"/>
          </a:xfrm>
          <a:prstGeom prst="rect">
            <a:avLst/>
          </a:prstGeom>
        </p:spPr>
      </p:pic>
      <p:pic>
        <p:nvPicPr>
          <p:cNvPr id="6" name="Picture 5" descr="A logo with a blue rectangle and a pink and blue cube&#10;&#10;Description automatically generated with medium confidence">
            <a:extLst>
              <a:ext uri="{FF2B5EF4-FFF2-40B4-BE49-F238E27FC236}">
                <a16:creationId xmlns:a16="http://schemas.microsoft.com/office/drawing/2014/main" id="{572ED9A8-75FE-13F6-EC56-ED0B9207E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4516581"/>
            <a:ext cx="3733799" cy="1579684"/>
          </a:xfrm>
          <a:prstGeom prst="rect">
            <a:avLst/>
          </a:prstGeom>
        </p:spPr>
      </p:pic>
      <p:pic>
        <p:nvPicPr>
          <p:cNvPr id="8" name="Picture 7" descr="A screenshot of a video game&#10;&#10;Description automatically generated">
            <a:extLst>
              <a:ext uri="{FF2B5EF4-FFF2-40B4-BE49-F238E27FC236}">
                <a16:creationId xmlns:a16="http://schemas.microsoft.com/office/drawing/2014/main" id="{75C640B3-E4FC-C3EA-AE77-0A9A5C15E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1" y="313898"/>
            <a:ext cx="7178911" cy="3098042"/>
          </a:xfrm>
          <a:prstGeom prst="rect">
            <a:avLst/>
          </a:prstGeom>
        </p:spPr>
      </p:pic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7C3223A-DF42-47DC-4EDE-C45B4EADFD98}"/>
              </a:ext>
            </a:extLst>
          </p:cNvPr>
          <p:cNvSpPr txBox="1">
            <a:spLocks/>
          </p:cNvSpPr>
          <p:nvPr/>
        </p:nvSpPr>
        <p:spPr>
          <a:xfrm>
            <a:off x="918260" y="1450253"/>
            <a:ext cx="4191000" cy="4964262"/>
          </a:xfrm>
          <a:prstGeom prst="rect">
            <a:avLst/>
          </a:prstGeom>
        </p:spPr>
        <p:txBody>
          <a:bodyPr/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Open Source</a:t>
            </a:r>
          </a:p>
          <a:p>
            <a:r>
              <a:rPr lang="en-US" dirty="0"/>
              <a:t>RNNs</a:t>
            </a:r>
          </a:p>
          <a:p>
            <a:r>
              <a:rPr lang="en-US" dirty="0"/>
              <a:t>LSTMs</a:t>
            </a:r>
          </a:p>
          <a:p>
            <a:r>
              <a:rPr lang="en-US" dirty="0"/>
              <a:t>VAE</a:t>
            </a:r>
          </a:p>
          <a:p>
            <a:r>
              <a:rPr lang="en-US" dirty="0"/>
              <a:t>GAN</a:t>
            </a:r>
          </a:p>
        </p:txBody>
      </p:sp>
    </p:spTree>
    <p:extLst>
      <p:ext uri="{BB962C8B-B14F-4D97-AF65-F5344CB8AC3E}">
        <p14:creationId xmlns:p14="http://schemas.microsoft.com/office/powerpoint/2010/main" val="355222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7EFA7-E4A1-FE29-CAD1-E65F0E9E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68322"/>
            <a:ext cx="10360501" cy="1223963"/>
          </a:xfrm>
        </p:spPr>
        <p:txBody>
          <a:bodyPr/>
          <a:lstStyle/>
          <a:p>
            <a:r>
              <a:rPr lang="en-US" sz="4400" dirty="0"/>
              <a:t>Implementation</a:t>
            </a:r>
            <a:endParaRPr lang="en-US" dirty="0"/>
          </a:p>
        </p:txBody>
      </p:sp>
      <p:pic>
        <p:nvPicPr>
          <p:cNvPr id="3" name="Picture 2" descr="A graph with orange and pink lines&#10;&#10;Description automatically generated">
            <a:extLst>
              <a:ext uri="{FF2B5EF4-FFF2-40B4-BE49-F238E27FC236}">
                <a16:creationId xmlns:a16="http://schemas.microsoft.com/office/drawing/2014/main" id="{7A2C2358-870B-9872-E3B8-928DBCE31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765" y="336904"/>
            <a:ext cx="3288227" cy="2802367"/>
          </a:xfrm>
          <a:prstGeom prst="rect">
            <a:avLst/>
          </a:prstGeom>
        </p:spPr>
      </p:pic>
      <p:pic>
        <p:nvPicPr>
          <p:cNvPr id="4" name="Picture 3" descr="A drawing of a music note&#10;&#10;Description automatically generated">
            <a:extLst>
              <a:ext uri="{FF2B5EF4-FFF2-40B4-BE49-F238E27FC236}">
                <a16:creationId xmlns:a16="http://schemas.microsoft.com/office/drawing/2014/main" id="{969CB6AC-3B72-F453-9E9A-F1212B3F9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58" y="1914948"/>
            <a:ext cx="5516107" cy="1223964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CB8F6E5-B8D0-3676-D82D-8B74A2F168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078" y="317871"/>
            <a:ext cx="1637166" cy="6163449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BF31CCE-677A-5C5E-2D2B-EFF318686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12" y="3544497"/>
            <a:ext cx="7083521" cy="983822"/>
          </a:xfrm>
          <a:prstGeom prst="rect">
            <a:avLst/>
          </a:prstGeom>
        </p:spPr>
      </p:pic>
      <p:pic>
        <p:nvPicPr>
          <p:cNvPr id="10" name="Picture 9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3C01BE3C-F2E3-7723-A334-5C654177FE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666" y="4885126"/>
            <a:ext cx="6616797" cy="151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3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0ADD-8249-2658-292F-61E6F290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-81478"/>
            <a:ext cx="10360501" cy="1223963"/>
          </a:xfrm>
        </p:spPr>
        <p:txBody>
          <a:bodyPr>
            <a:normAutofit/>
          </a:bodyPr>
          <a:lstStyle/>
          <a:p>
            <a:r>
              <a:rPr lang="en-US" sz="4400" dirty="0"/>
              <a:t>Results</a:t>
            </a:r>
          </a:p>
        </p:txBody>
      </p:sp>
      <p:pic>
        <p:nvPicPr>
          <p:cNvPr id="4" name="Picture 3" descr="A drawing of a music note&#10;&#10;Description automatically generated">
            <a:extLst>
              <a:ext uri="{FF2B5EF4-FFF2-40B4-BE49-F238E27FC236}">
                <a16:creationId xmlns:a16="http://schemas.microsoft.com/office/drawing/2014/main" id="{B13C95E7-71EC-0941-43A5-84832AE23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512" y="4370696"/>
            <a:ext cx="9829800" cy="2117954"/>
          </a:xfrm>
          <a:prstGeom prst="rect">
            <a:avLst/>
          </a:prstGeom>
        </p:spPr>
      </p:pic>
      <p:pic>
        <p:nvPicPr>
          <p:cNvPr id="6" name="Picture 5" descr="A sheet of music with notes&#10;&#10;Description automatically generated">
            <a:extLst>
              <a:ext uri="{FF2B5EF4-FFF2-40B4-BE49-F238E27FC236}">
                <a16:creationId xmlns:a16="http://schemas.microsoft.com/office/drawing/2014/main" id="{DE51699D-35CA-1B26-1768-3B3C3713B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141" y="369350"/>
            <a:ext cx="6612456" cy="3615029"/>
          </a:xfrm>
          <a:prstGeom prst="rect">
            <a:avLst/>
          </a:prstGeom>
        </p:spPr>
      </p:pic>
      <p:pic>
        <p:nvPicPr>
          <p:cNvPr id="8" name="Picture 7" descr="A graph with orange and pink lines&#10;&#10;Description automatically generated">
            <a:extLst>
              <a:ext uri="{FF2B5EF4-FFF2-40B4-BE49-F238E27FC236}">
                <a16:creationId xmlns:a16="http://schemas.microsoft.com/office/drawing/2014/main" id="{754A764F-A9D8-D58B-E425-9D39A9B78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94" y="1464634"/>
            <a:ext cx="2956605" cy="251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1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CEFEF-DA27-319A-4F92-5574CDFE1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References for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91F05-C081-6385-D7B6-80D117267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https://codepen.io/teropa/full/JLjXGK</a:t>
            </a:r>
            <a:endParaRPr lang="en-US" dirty="0"/>
          </a:p>
          <a:p>
            <a:r>
              <a:rPr lang="en-US" dirty="0">
                <a:hlinkClick r:id="rId3"/>
              </a:rPr>
              <a:t>https://piano-genie.glitch.me/</a:t>
            </a:r>
            <a:r>
              <a:rPr lang="en-US" dirty="0"/>
              <a:t> </a:t>
            </a:r>
          </a:p>
          <a:p>
            <a:r>
              <a:rPr lang="en-US" dirty="0">
                <a:hlinkClick r:id="rId4" action="ppaction://hlinkfile"/>
              </a:rPr>
              <a:t>file:///C:/Users/ryany/Downloads/9781838824419-HANDSON_MUSIC_GENERATION_WITH_MAGENTA.pdf</a:t>
            </a:r>
            <a:r>
              <a:rPr lang="en-US" dirty="0"/>
              <a:t> </a:t>
            </a:r>
          </a:p>
          <a:p>
            <a:r>
              <a:rPr lang="en-US" dirty="0">
                <a:hlinkClick r:id="rId5"/>
              </a:rPr>
              <a:t>https://www.cs.cmu.edu/~tom/files/MachineLearningTomMitchell.pdf</a:t>
            </a:r>
            <a:r>
              <a:rPr lang="en-US" dirty="0"/>
              <a:t> </a:t>
            </a:r>
          </a:p>
          <a:p>
            <a:r>
              <a:rPr lang="en-US" dirty="0">
                <a:hlinkClick r:id="rId6"/>
              </a:rPr>
              <a:t>https://github.com/magenta/magenta</a:t>
            </a:r>
            <a:r>
              <a:rPr lang="en-US" dirty="0"/>
              <a:t> </a:t>
            </a:r>
          </a:p>
          <a:p>
            <a:r>
              <a:rPr lang="en-US" dirty="0">
                <a:hlinkClick r:id="rId7"/>
              </a:rPr>
              <a:t>https://archive.org/details/handbookofmodalc0000robe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30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http://purl.org/dc/elements/1.1/"/>
    <ds:schemaRef ds:uri="http://schemas.openxmlformats.org/package/2006/metadata/core-properties"/>
    <ds:schemaRef ds:uri="http://purl.org/dc/dcmitype/"/>
    <ds:schemaRef ds:uri="4873beb7-5857-4685-be1f-d57550cc96cc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82</TotalTime>
  <Words>138</Words>
  <Application>Microsoft Office PowerPoint</Application>
  <PresentationFormat>Custom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Tech 16x9</vt:lpstr>
      <vt:lpstr>Algorithmic Composition of Two-Part First Species Counterpoint </vt:lpstr>
      <vt:lpstr>Table of Contents</vt:lpstr>
      <vt:lpstr>Species counterpoint</vt:lpstr>
      <vt:lpstr>First Species Example</vt:lpstr>
      <vt:lpstr>Machine Learning</vt:lpstr>
      <vt:lpstr>PowerPoint Presentation</vt:lpstr>
      <vt:lpstr>Magenta</vt:lpstr>
      <vt:lpstr>Implementation</vt:lpstr>
      <vt:lpstr>Results</vt:lpstr>
      <vt:lpstr>References for Images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Composition of Two-Part First Species Counterpoint</dc:title>
  <dc:creator>Ryan Yonek</dc:creator>
  <cp:lastModifiedBy>Ryan Yonek</cp:lastModifiedBy>
  <cp:revision>2</cp:revision>
  <dcterms:created xsi:type="dcterms:W3CDTF">2024-04-19T11:30:39Z</dcterms:created>
  <dcterms:modified xsi:type="dcterms:W3CDTF">2024-04-19T13:03:37Z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MSIP_Label_b86e8d42-b9a6-4554-b0cc-98af32c6b0e9_Enabled">
    <vt:lpwstr>true</vt:lpwstr>
  </property>
  <property fmtid="{D5CDD505-2E9C-101B-9397-08002B2CF9AE}" pid="9" name="MSIP_Label_b86e8d42-b9a6-4554-b0cc-98af32c6b0e9_SetDate">
    <vt:lpwstr>2024-04-19T13:03:16Z</vt:lpwstr>
  </property>
  <property fmtid="{D5CDD505-2E9C-101B-9397-08002B2CF9AE}" pid="10" name="MSIP_Label_b86e8d42-b9a6-4554-b0cc-98af32c6b0e9_Method">
    <vt:lpwstr>Standard</vt:lpwstr>
  </property>
  <property fmtid="{D5CDD505-2E9C-101B-9397-08002B2CF9AE}" pid="11" name="MSIP_Label_b86e8d42-b9a6-4554-b0cc-98af32c6b0e9_Name">
    <vt:lpwstr>defa4170-0d19-0005-0004-bc88714345d2</vt:lpwstr>
  </property>
  <property fmtid="{D5CDD505-2E9C-101B-9397-08002B2CF9AE}" pid="12" name="MSIP_Label_b86e8d42-b9a6-4554-b0cc-98af32c6b0e9_SiteId">
    <vt:lpwstr>9ef017d9-7f05-4225-9838-f92cff57b7ab</vt:lpwstr>
  </property>
  <property fmtid="{D5CDD505-2E9C-101B-9397-08002B2CF9AE}" pid="13" name="MSIP_Label_b86e8d42-b9a6-4554-b0cc-98af32c6b0e9_ActionId">
    <vt:lpwstr>9f5643c3-b25a-46fd-9072-23f514c7fe8f</vt:lpwstr>
  </property>
  <property fmtid="{D5CDD505-2E9C-101B-9397-08002B2CF9AE}" pid="14" name="MSIP_Label_b86e8d42-b9a6-4554-b0cc-98af32c6b0e9_ContentBits">
    <vt:lpwstr>0</vt:lpwstr>
  </property>
</Properties>
</file>